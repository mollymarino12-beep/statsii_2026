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5" r:id="rId5"/>
    <p:sldId id="259" r:id="rId6"/>
    <p:sldId id="260" r:id="rId7"/>
    <p:sldId id="267" r:id="rId8"/>
    <p:sldId id="268" r:id="rId9"/>
    <p:sldId id="269" r:id="rId10"/>
    <p:sldId id="262" r:id="rId11"/>
    <p:sldId id="263"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6" d="100"/>
          <a:sy n="76" d="100"/>
        </p:scale>
        <p:origin x="43"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n Alvarado" userId="517dc779ebbddcdf" providerId="LiveId" clId="{39E8B4CE-5C0D-480A-8585-284C13672A74}"/>
    <pc:docChg chg="modSld sldOrd">
      <pc:chgData name="Alan Alvarado" userId="517dc779ebbddcdf" providerId="LiveId" clId="{39E8B4CE-5C0D-480A-8585-284C13672A74}" dt="2026-04-01T10:33:03.828" v="1"/>
      <pc:docMkLst>
        <pc:docMk/>
      </pc:docMkLst>
      <pc:sldChg chg="ord">
        <pc:chgData name="Alan Alvarado" userId="517dc779ebbddcdf" providerId="LiveId" clId="{39E8B4CE-5C0D-480A-8585-284C13672A74}" dt="2026-04-01T10:33:03.828" v="1"/>
        <pc:sldMkLst>
          <pc:docMk/>
          <pc:sldMk cId="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71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aimed to understand how governments could encourage more people to get vaccinated during COVID-19.</a:t>
            </a:r>
          </a:p>
          <a:p>
            <a:r>
              <a:rPr lang="en-US" dirty="0"/>
              <a:t>Researchers used a factorial survey experiment, meaning participants were shown different combinations of incentives and asked how willing they would be to get vaccinated.</a:t>
            </a:r>
          </a:p>
          <a:p>
            <a:r>
              <a:rPr lang="en-US" dirty="0"/>
              <a:t>The sample was large and based in Germany, making the findings fairly reliable for similar populations.</a:t>
            </a:r>
          </a:p>
          <a:p>
            <a:r>
              <a:rPr lang="en-US" dirty="0"/>
              <a:t>Three main types of incentives were tested:</a:t>
            </a:r>
            <a:br>
              <a:rPr lang="en-US" dirty="0"/>
            </a:br>
            <a:r>
              <a:rPr lang="en-US" dirty="0"/>
              <a:t>freedoms (like access to travel), financial payments, and easier access through local doctors.</a:t>
            </a:r>
          </a:p>
          <a:p>
            <a:r>
              <a:rPr lang="en-US" dirty="0"/>
              <a:t>Participants were divided into three groups based on their attitudes: those willing to vaccinate, those undecided, and those refusing.</a:t>
            </a:r>
          </a:p>
          <a:p>
            <a:r>
              <a:rPr lang="en-US" dirty="0"/>
              <a:t>The main takeaway is that incentives do work, but mostly for people who are unsure rather than those strongly against vaccination.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Participants were presented with hypothetical vaccination scenarios in which different combinations of incentives were varied. They were then asked how likely they would be to get vaccinated under each scenario. Importantly, the study measures intention to vaccinate rather than actual </a:t>
            </a:r>
            <a:r>
              <a:rPr lang="en-US" dirty="0" err="1"/>
              <a:t>behaviour</a:t>
            </a:r>
            <a:r>
              <a:rPr lang="en-US" dirty="0"/>
              <a:t>. Participants were also </a:t>
            </a:r>
            <a:r>
              <a:rPr lang="en-US" dirty="0" err="1"/>
              <a:t>categorised</a:t>
            </a:r>
            <a:r>
              <a:rPr lang="en-US" dirty="0"/>
              <a:t> based on their initial attitudes as willing, undecided, or refusing vaccination, which allowed the researchers to examine how different groups responded to the same incentives.</a:t>
            </a:r>
          </a:p>
          <a:p>
            <a:r>
              <a:rPr lang="en-US" dirty="0"/>
              <a:t>To </a:t>
            </a:r>
            <a:r>
              <a:rPr lang="en-US" dirty="0" err="1"/>
              <a:t>analyse</a:t>
            </a:r>
            <a:r>
              <a:rPr lang="en-US" dirty="0"/>
              <a:t> the data, the researchers used linear regression models with individual fixed effects, which help control for unobserved individual characteristics such as personal beliefs or attitudes that could influence responses. They estimated the average treatment effect of each incentive, meaning the overall impact on vaccination willingness. In addition, the study used causal forest models, a machine learning method, to explore heterogeneous treatment effects, or how the impact of incentives varies across individuals. For example, they examined differences based on age, levels of trust, and risk preferences, highlighting that incentives do not work equally for everyone. Finally, the analysis was conducted using a structured and reproducible workflow, with separate scripts for data preparation, main results, and heterogeneity analysis.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321D4-2DEC-A07E-AFDF-1CEEB940E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58D66-E122-EF37-12C1-E4F3B14E6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9B67C-5559-67B5-767E-3EA8C08C2024}"/>
              </a:ext>
            </a:extLst>
          </p:cNvPr>
          <p:cNvSpPr>
            <a:spLocks noGrp="1"/>
          </p:cNvSpPr>
          <p:nvPr>
            <p:ph type="body" idx="1"/>
          </p:nvPr>
        </p:nvSpPr>
        <p:spPr/>
        <p:txBody>
          <a:bodyPr/>
          <a:lstStyle/>
          <a:p>
            <a:r>
              <a:rPr lang="en-US" dirty="0"/>
              <a:t>The graph shows how different incentives affect the likelihood that people would get vaccinated, with probabilities displayed on a 0–1 scale. Each dot represents the estimated effect of an incentive, and the vertical lines around the dots are 95% confidence intervals, showing the range where the true effect is likely to fall. We can read these probability changes as </a:t>
            </a:r>
            <a:r>
              <a:rPr lang="en-US" b="1" dirty="0"/>
              <a:t>percentage point increases</a:t>
            </a:r>
            <a:r>
              <a:rPr lang="en-US" dirty="0"/>
              <a:t>, so a change from 0.60 to 0.65, for example, means a 5 percentage point increase in willingness. This graph allows us to see both the estimated impact of each incentive and how certain we can be about that estimate.</a:t>
            </a:r>
          </a:p>
        </p:txBody>
      </p:sp>
      <p:sp>
        <p:nvSpPr>
          <p:cNvPr id="4" name="Slide Number Placeholder 3">
            <a:extLst>
              <a:ext uri="{FF2B5EF4-FFF2-40B4-BE49-F238E27FC236}">
                <a16:creationId xmlns:a16="http://schemas.microsoft.com/office/drawing/2014/main" id="{3643EB0F-B4F7-A67F-45A3-086B75B0BC0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09404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incentives tested increased vaccination willingness, but the effects were modest overall. In the full sample, each incentive—financial rewards, enhanced freedoms, or vaccination via a local doctor—raised willingness by around 2–3 percentage points. Among people who were undecided about vaccination, the effects were larger, approximately 5–6 percentage points. This shows that incentives are most effective at influencing hesitant individuals, while their impact on people who are already willing or firmly refusing is smaller. Overall, these results suggest that targeted incentives can meaningfully improve vaccination uptake, especially among those on the fence..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predicted vaccination coverage graph (panel B) shows how different incentives could increase population-level uptake. At baseline, without any incentives, about 67% of the population is expected to get vaccinated. Introducing enhanced freedoms or making vaccination available through a local doctor raises coverage to approximately 73%. When all incentives are combined — financial rewards, enhanced freedoms, and improved access — predicted coverage increases further to around 80%. This illustrates that while each incentive individually has a modest effect, combining them can substantially increase overall vaccination uptake.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946B-816C-C7AE-20EC-9CDB8E053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D8556-3460-9DA3-0C96-96E676CCF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2BB42-45D6-03E9-9D68-AF188C3ECD7B}"/>
              </a:ext>
            </a:extLst>
          </p:cNvPr>
          <p:cNvSpPr>
            <a:spLocks noGrp="1"/>
          </p:cNvSpPr>
          <p:nvPr>
            <p:ph type="body" idx="1"/>
          </p:nvPr>
        </p:nvSpPr>
        <p:spPr/>
        <p:txBody>
          <a:bodyPr/>
          <a:lstStyle/>
          <a:p>
            <a:r>
              <a:rPr lang="en-US" dirty="0"/>
              <a:t>Figure 2 examines </a:t>
            </a:r>
            <a:r>
              <a:rPr lang="en-US" b="1" dirty="0"/>
              <a:t>heterogeneous treatment effects</a:t>
            </a:r>
            <a:r>
              <a:rPr lang="en-US" dirty="0"/>
              <a:t>, which means it looks at how the impact of incentives differs across different subgroups of people. The analysis uses a </a:t>
            </a:r>
            <a:r>
              <a:rPr lang="en-US" b="1" dirty="0"/>
              <a:t>forest plot</a:t>
            </a:r>
            <a:r>
              <a:rPr lang="en-US" dirty="0"/>
              <a:t>, a type of graph where each dot represents the estimated effect of an incentive for a particular group or feature, and the horizontal lines indicate the </a:t>
            </a:r>
            <a:r>
              <a:rPr lang="en-US" b="1" dirty="0"/>
              <a:t>95% confidence intervals</a:t>
            </a:r>
            <a:r>
              <a:rPr lang="en-US" dirty="0"/>
              <a:t>, showing the uncertainty around the estimate. Panel A of the figure identifies which factors are most important in explaining differences in responses, with positive coefficients meaning that higher values of a feature increase the effect of an incentive. Panel B shows that </a:t>
            </a:r>
            <a:r>
              <a:rPr lang="en-US" b="1" dirty="0"/>
              <a:t>age matters</a:t>
            </a:r>
            <a:r>
              <a:rPr lang="en-US" dirty="0"/>
              <a:t>: younger undecided respondents respond most to enhanced freedoms, while older undecided respondents respond more to vaccination through a local doctor. Panel C shows that </a:t>
            </a:r>
            <a:r>
              <a:rPr lang="en-US" b="1" dirty="0"/>
              <a:t>distance to the nearest vaccination center</a:t>
            </a:r>
            <a:r>
              <a:rPr lang="en-US" dirty="0"/>
              <a:t> also matters: the effect of being able to get vaccinated locally increases as people live farther away from vaccination centers, suggesting that reducing travel and other transaction costs can boost uptake. Overall, these heterogeneous effects show that incentives are not equally effective for everyone, and targeted strategies can increase vaccination more efficiently.</a:t>
            </a:r>
          </a:p>
        </p:txBody>
      </p:sp>
      <p:sp>
        <p:nvSpPr>
          <p:cNvPr id="4" name="Slide Number Placeholder 3">
            <a:extLst>
              <a:ext uri="{FF2B5EF4-FFF2-40B4-BE49-F238E27FC236}">
                <a16:creationId xmlns:a16="http://schemas.microsoft.com/office/drawing/2014/main" id="{22F9556E-65BD-9E0C-A0CF-9828F5B3F2B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40233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6702-FD66-06E4-0581-856EEB7E0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7BE2A-F147-C3ED-DF57-5A13ED895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5899B-697B-7481-CD27-169D1B5E7C3C}"/>
              </a:ext>
            </a:extLst>
          </p:cNvPr>
          <p:cNvSpPr>
            <a:spLocks noGrp="1"/>
          </p:cNvSpPr>
          <p:nvPr>
            <p:ph type="body" idx="1"/>
          </p:nvPr>
        </p:nvSpPr>
        <p:spPr/>
        <p:txBody>
          <a:bodyPr/>
          <a:lstStyle/>
          <a:p>
            <a:r>
              <a:rPr lang="en-US" dirty="0"/>
              <a:t>The original study categorized participants into broad groups — willing, undecided, or refusing — and analyzed how incentives affected each group. While informative, this approach overlooked the </a:t>
            </a:r>
            <a:r>
              <a:rPr lang="en-US" b="1" dirty="0"/>
              <a:t>“movable middle”</a:t>
            </a:r>
            <a:r>
              <a:rPr lang="en-US" dirty="0"/>
              <a:t>, individuals whose willingness to vaccinate is not firmly fixed and who may respond differently than the extremes. By not treating baseline willingness as a continuous measure, the study could not capture the nuanced variation within this middle group. Additionally, the original study did not examine </a:t>
            </a:r>
            <a:r>
              <a:rPr lang="en-US" b="1" dirty="0"/>
              <a:t>trust in government</a:t>
            </a:r>
            <a:r>
              <a:rPr lang="en-US" dirty="0"/>
              <a:t> as a factor influencing vaccination decisions, missing a key driver of public health behavior identified in other research. Ignoring both baseline variation and trust means the study could overlook the subgroups that are </a:t>
            </a:r>
            <a:r>
              <a:rPr lang="en-US" b="1" dirty="0"/>
              <a:t>most responsive to interventions</a:t>
            </a:r>
            <a:r>
              <a:rPr lang="en-US" dirty="0"/>
              <a:t>, limiting the insights available for designing effective, targeted vaccination policies.</a:t>
            </a:r>
          </a:p>
        </p:txBody>
      </p:sp>
      <p:sp>
        <p:nvSpPr>
          <p:cNvPr id="4" name="Slide Number Placeholder 3">
            <a:extLst>
              <a:ext uri="{FF2B5EF4-FFF2-40B4-BE49-F238E27FC236}">
                <a16:creationId xmlns:a16="http://schemas.microsoft.com/office/drawing/2014/main" id="{D2B4C2E6-5A4A-A58C-D8EB-C1DA0CFE940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29961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B9EEB-A8EB-8B99-0385-00A81ADF6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2E250-B91C-311C-7AB9-EE25F3582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A7269-A79F-79E8-6CFD-3C0013177981}"/>
              </a:ext>
            </a:extLst>
          </p:cNvPr>
          <p:cNvSpPr>
            <a:spLocks noGrp="1"/>
          </p:cNvSpPr>
          <p:nvPr>
            <p:ph type="body" idx="1"/>
          </p:nvPr>
        </p:nvSpPr>
        <p:spPr/>
        <p:txBody>
          <a:bodyPr/>
          <a:lstStyle/>
          <a:p>
            <a:r>
              <a:rPr lang="en-US" dirty="0"/>
              <a:t>I estimated two separate interaction regression models to examine predictors of vaccine hesitancy. In the first model, I included baseline attitudes, trust in government, and their interaction term, which allowed me to test both the direct effect of trust and whether trust modifies the relationship between baseline attitudes and vaccine hesitancy. The second model replicated the same structure but replaced trust with financial incentives, which served as a comparison variable based on the original study. This approach ensured consistency in model specification and allowed for a direct comparison between predictors. All key variables were standardized into z-scores, giving them a mean of 0 and a standard deviation of 1, which makes the coefficients interpretable as changes in vaccine hesitancy in standard deviation units and allows effect sizes to be directly compared across variables. I then compared the two models by examining the magnitude of the standardized coefficients, their statistical significance, and the strength of the interaction terms. The goal of this approach was to assess whether a psychological factor (trust in government) or a material factor (financial incentives) is more important in explaining variation in vaccine hesitancy, while also accounting for how these factors interact with baseline attitudes.</a:t>
            </a:r>
          </a:p>
        </p:txBody>
      </p:sp>
      <p:sp>
        <p:nvSpPr>
          <p:cNvPr id="4" name="Slide Number Placeholder 3">
            <a:extLst>
              <a:ext uri="{FF2B5EF4-FFF2-40B4-BE49-F238E27FC236}">
                <a16:creationId xmlns:a16="http://schemas.microsoft.com/office/drawing/2014/main" id="{BB022887-4DF2-BF72-B3AC-57EF096BFCF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92810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shows that trust in government has a significant effect on vaccine hesitancy. Specifically, a </a:t>
            </a:r>
            <a:r>
              <a:rPr lang="en-US" b="1" dirty="0"/>
              <a:t>1-unit increase in trust</a:t>
            </a:r>
            <a:r>
              <a:rPr lang="en-US" dirty="0"/>
              <a:t> is associated with a </a:t>
            </a:r>
            <a:r>
              <a:rPr lang="en-US" b="1" dirty="0"/>
              <a:t>0.0187-unit increase</a:t>
            </a:r>
            <a:r>
              <a:rPr lang="en-US" dirty="0"/>
              <a:t> in vaccine attitudes (</a:t>
            </a:r>
            <a:r>
              <a:rPr lang="en-US" b="1" dirty="0"/>
              <a:t>β = 0.0187, p &lt; .001</a:t>
            </a:r>
            <a:r>
              <a:rPr lang="en-US" dirty="0"/>
              <a:t>), whereas a </a:t>
            </a:r>
            <a:r>
              <a:rPr lang="en-US" b="1" dirty="0"/>
              <a:t>1-unit increase in financial incentives</a:t>
            </a:r>
            <a:r>
              <a:rPr lang="en-US" dirty="0"/>
              <a:t> is associated with a much smaller change (</a:t>
            </a:r>
            <a:r>
              <a:rPr lang="en-US" b="1" dirty="0"/>
              <a:t>β = 0.00111</a:t>
            </a:r>
            <a:r>
              <a:rPr lang="en-US" dirty="0"/>
              <a:t>). Trust also moderates the effect of baseline hesitancy, with a </a:t>
            </a:r>
            <a:r>
              <a:rPr lang="en-US" b="1" dirty="0"/>
              <a:t>1-unit increase in trust</a:t>
            </a:r>
            <a:r>
              <a:rPr lang="en-US" dirty="0"/>
              <a:t> reducing the influence of prior hesitancy by </a:t>
            </a:r>
            <a:r>
              <a:rPr lang="en-US" b="1" dirty="0"/>
              <a:t>0.0064 units</a:t>
            </a:r>
            <a:r>
              <a:rPr lang="en-US" dirty="0"/>
              <a:t> (</a:t>
            </a:r>
            <a:r>
              <a:rPr lang="en-US" b="1" dirty="0"/>
              <a:t>β = −0.0064, p &lt; .001</a:t>
            </a:r>
            <a:r>
              <a:rPr lang="en-US" dirty="0"/>
              <a:t>), while the comparable interaction for financial incentives is weaker (</a:t>
            </a:r>
            <a:r>
              <a:rPr lang="en-US" b="1" dirty="0"/>
              <a:t>β = −0.0021</a:t>
            </a:r>
            <a:r>
              <a:rPr lang="en-US" dirty="0"/>
              <a:t>). These results indicate that trust in government exerts both a stronger direct effect and a more substantial moderating effect on vaccine hesitancy compared with financial incentives.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000000"/>
                </a:solidFill>
                <a:latin typeface="Noto Sans KR" pitchFamily="34" charset="0"/>
                <a:ea typeface="Noto Sans KR" pitchFamily="34" charset="-122"/>
                <a:cs typeface="Noto Sans KR" pitchFamily="34" charset="-120"/>
              </a:rPr>
              <a:t>Public health campaigns should focus on building
institutional trust through transparent communication and engagement with
trusted community leaders. Clear, honest messaging and responsiveness to
public concerns are more effective than monetary incentives for motivating
hesitant populations. Financial incentives can complement
trust-building efforts but should be secondary to credible communication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90550" y="1209675"/>
            <a:ext cx="12059543" cy="1659731"/>
          </a:xfrm>
          <a:prstGeom prst="rect">
            <a:avLst/>
          </a:prstGeom>
          <a:noFill/>
          <a:ln/>
        </p:spPr>
        <p:txBody>
          <a:bodyPr vert="horz" wrap="none" lIns="0" tIns="0" rIns="0" bIns="0" rtlCol="0" anchor="ctr"/>
          <a:lstStyle/>
          <a:p>
            <a:pPr marL="0" indent="0" algn="ctr">
              <a:lnSpc>
                <a:spcPts val="6534"/>
              </a:lnSpc>
              <a:buNone/>
            </a:pPr>
            <a:r>
              <a:rPr lang="en-US" sz="4950" b="1" dirty="0">
                <a:solidFill>
                  <a:srgbClr val="232F3F"/>
                </a:solidFill>
                <a:latin typeface="Noto Sans KR" pitchFamily="34" charset="0"/>
                <a:ea typeface="Noto Sans KR" pitchFamily="34" charset="-122"/>
                <a:cs typeface="Noto Sans KR" pitchFamily="34" charset="-120"/>
              </a:rPr>
              <a:t>Incentives and COVID-19
Vaccinations Replication Project</a:t>
            </a:r>
            <a:endParaRPr lang="en-US" sz="4950" dirty="0"/>
          </a:p>
        </p:txBody>
      </p:sp>
      <p:sp>
        <p:nvSpPr>
          <p:cNvPr id="5" name="Text 2"/>
          <p:cNvSpPr/>
          <p:nvPr/>
        </p:nvSpPr>
        <p:spPr>
          <a:xfrm>
            <a:off x="3534713" y="5095875"/>
            <a:ext cx="5349240" cy="445740"/>
          </a:xfrm>
          <a:prstGeom prst="rect">
            <a:avLst/>
          </a:prstGeom>
          <a:noFill/>
          <a:ln/>
        </p:spPr>
        <p:txBody>
          <a:bodyPr vert="horz" wrap="none" lIns="0" tIns="0" rIns="0" bIns="0" rtlCol="0" anchor="ctr"/>
          <a:lstStyle/>
          <a:p>
            <a:pPr marL="0" indent="0" algn="ctr">
              <a:lnSpc>
                <a:spcPts val="3510"/>
              </a:lnSpc>
              <a:buNone/>
            </a:pPr>
            <a:r>
              <a:rPr lang="en-US" sz="2925" b="1" dirty="0">
                <a:solidFill>
                  <a:srgbClr val="232F3F"/>
                </a:solidFill>
                <a:latin typeface="Noto Sans KR" pitchFamily="34" charset="0"/>
                <a:ea typeface="Noto Sans KR" pitchFamily="34" charset="-122"/>
                <a:cs typeface="Noto Sans KR" pitchFamily="34" charset="-120"/>
              </a:rPr>
              <a:t>Molly Marino</a:t>
            </a:r>
            <a:endParaRPr lang="en-US" sz="29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57225" y="428625"/>
            <a:ext cx="17145000" cy="600075"/>
          </a:xfrm>
          <a:prstGeom prst="rect">
            <a:avLst/>
          </a:prstGeom>
          <a:noFill/>
          <a:ln/>
        </p:spPr>
        <p:txBody>
          <a:bodyPr vert="horz" wrap="none" lIns="0" tIns="0" rIns="0" bIns="0" rtlCol="0" anchor="ctr"/>
          <a:lstStyle/>
          <a:p>
            <a:pPr marL="0" indent="0">
              <a:lnSpc>
                <a:spcPts val="4725"/>
              </a:lnSpc>
              <a:buNone/>
            </a:pPr>
            <a:r>
              <a:rPr lang="en-US" sz="3750" b="1" dirty="0">
                <a:solidFill>
                  <a:srgbClr val="233347"/>
                </a:solidFill>
                <a:latin typeface="Hubot Sans" pitchFamily="34" charset="0"/>
                <a:ea typeface="Hubot Sans" pitchFamily="34" charset="-122"/>
                <a:cs typeface="Hubot Sans" pitchFamily="34" charset="-120"/>
              </a:rPr>
              <a:t>Overview of the Original Study</a:t>
            </a:r>
            <a:endParaRPr lang="en-US" sz="3750" dirty="0"/>
          </a:p>
        </p:txBody>
      </p:sp>
      <p:sp>
        <p:nvSpPr>
          <p:cNvPr id="4" name="Text 1"/>
          <p:cNvSpPr/>
          <p:nvPr/>
        </p:nvSpPr>
        <p:spPr>
          <a:xfrm>
            <a:off x="657225" y="2038350"/>
            <a:ext cx="11986171" cy="816173"/>
          </a:xfrm>
          <a:prstGeom prst="rect">
            <a:avLst/>
          </a:prstGeom>
          <a:noFill/>
          <a:ln/>
        </p:spPr>
        <p:txBody>
          <a:bodyPr vert="horz" wrap="none" lIns="0" tIns="0" rIns="0" bIns="0" rtlCol="0" anchor="ctr"/>
          <a:lstStyle/>
          <a:p>
            <a:pPr marL="0" indent="0">
              <a:lnSpc>
                <a:spcPts val="3213"/>
              </a:lnSpc>
              <a:buNone/>
            </a:pPr>
            <a:r>
              <a:rPr lang="en-US" sz="2550" dirty="0">
                <a:solidFill>
                  <a:srgbClr val="000000"/>
                </a:solidFill>
                <a:latin typeface="Noto Sans" pitchFamily="34" charset="0"/>
                <a:ea typeface="Noto Sans" pitchFamily="34" charset="-122"/>
                <a:cs typeface="Noto Sans" pitchFamily="34" charset="-120"/>
              </a:rPr>
              <a:t>• Study design: Factorial survey experiment with 20,500 participants
across Germany</a:t>
            </a:r>
            <a:endParaRPr lang="en-US" sz="2550" dirty="0"/>
          </a:p>
        </p:txBody>
      </p:sp>
      <p:sp>
        <p:nvSpPr>
          <p:cNvPr id="5" name="Text 2"/>
          <p:cNvSpPr/>
          <p:nvPr/>
        </p:nvSpPr>
        <p:spPr>
          <a:xfrm>
            <a:off x="657225" y="2971800"/>
            <a:ext cx="2241042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Timing: March 5–25, 2021 (during the pandemic peak)</a:t>
            </a:r>
            <a:endParaRPr lang="en-US" sz="2550" dirty="0"/>
          </a:p>
        </p:txBody>
      </p:sp>
      <p:sp>
        <p:nvSpPr>
          <p:cNvPr id="6" name="Text 3"/>
          <p:cNvSpPr/>
          <p:nvPr/>
        </p:nvSpPr>
        <p:spPr>
          <a:xfrm>
            <a:off x="657225" y="3514725"/>
            <a:ext cx="1282446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Three policy dimensions tested:</a:t>
            </a:r>
            <a:endParaRPr lang="en-US" sz="2550" dirty="0"/>
          </a:p>
        </p:txBody>
      </p:sp>
      <p:sp>
        <p:nvSpPr>
          <p:cNvPr id="7" name="Text 4"/>
          <p:cNvSpPr/>
          <p:nvPr/>
        </p:nvSpPr>
        <p:spPr>
          <a:xfrm>
            <a:off x="1076325" y="4000500"/>
            <a:ext cx="2007870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Financial incentives (€25 and €50 cash rewards)</a:t>
            </a:r>
            <a:endParaRPr lang="en-US" sz="2550" dirty="0"/>
          </a:p>
        </p:txBody>
      </p:sp>
      <p:sp>
        <p:nvSpPr>
          <p:cNvPr id="8" name="Text 5"/>
          <p:cNvSpPr/>
          <p:nvPr/>
        </p:nvSpPr>
        <p:spPr>
          <a:xfrm>
            <a:off x="1076325" y="4457700"/>
            <a:ext cx="1787652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Enhanced freedoms for vaccinated individuals ( traveling, events, etc.)</a:t>
            </a:r>
            <a:endParaRPr lang="en-US" sz="2550" dirty="0"/>
          </a:p>
        </p:txBody>
      </p:sp>
      <p:sp>
        <p:nvSpPr>
          <p:cNvPr id="9" name="Text 6"/>
          <p:cNvSpPr/>
          <p:nvPr/>
        </p:nvSpPr>
        <p:spPr>
          <a:xfrm>
            <a:off x="1076325" y="4933950"/>
            <a:ext cx="1632204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Vaccination access through local doctors (local GP)</a:t>
            </a:r>
            <a:endParaRPr lang="en-US" sz="2550" dirty="0"/>
          </a:p>
        </p:txBody>
      </p:sp>
      <p:sp>
        <p:nvSpPr>
          <p:cNvPr id="10" name="Text 7"/>
          <p:cNvSpPr/>
          <p:nvPr/>
        </p:nvSpPr>
        <p:spPr>
          <a:xfrm>
            <a:off x="657225" y="5467350"/>
            <a:ext cx="26037540" cy="433983"/>
          </a:xfrm>
          <a:prstGeom prst="rect">
            <a:avLst/>
          </a:prstGeom>
          <a:noFill/>
          <a:ln/>
        </p:spPr>
        <p:txBody>
          <a:bodyPr vert="horz" wrap="none" lIns="0" tIns="0" rIns="0" bIns="0" rtlCol="0" anchor="ctr"/>
          <a:lstStyle/>
          <a:p>
            <a:pPr marL="0" indent="0">
              <a:lnSpc>
                <a:spcPts val="3417"/>
              </a:lnSpc>
              <a:buNone/>
            </a:pPr>
            <a:r>
              <a:rPr lang="en-US" sz="2550" dirty="0">
                <a:solidFill>
                  <a:srgbClr val="000000"/>
                </a:solidFill>
                <a:latin typeface="Noto Sans" pitchFamily="34" charset="0"/>
                <a:ea typeface="Noto Sans" pitchFamily="34" charset="-122"/>
                <a:cs typeface="Noto Sans" pitchFamily="34" charset="-120"/>
              </a:rPr>
              <a:t>• Goal: Address vaccine hesitancy and increase vaccination coverage</a:t>
            </a:r>
            <a:endParaRPr lang="en-US" sz="2550" dirty="0"/>
          </a:p>
        </p:txBody>
      </p:sp>
      <p:sp>
        <p:nvSpPr>
          <p:cNvPr id="11" name="Text 8"/>
          <p:cNvSpPr/>
          <p:nvPr/>
        </p:nvSpPr>
        <p:spPr>
          <a:xfrm>
            <a:off x="11220331" y="6562725"/>
            <a:ext cx="754380" cy="171450"/>
          </a:xfrm>
          <a:prstGeom prst="rect">
            <a:avLst/>
          </a:prstGeom>
          <a:noFill/>
          <a:ln/>
        </p:spPr>
        <p:txBody>
          <a:bodyPr vert="horz" wrap="none" lIns="0" tIns="0" rIns="0" bIns="0" rtlCol="0" anchor="ctr"/>
          <a:lstStyle/>
          <a:p>
            <a:pPr marL="0" indent="0" algn="r">
              <a:lnSpc>
                <a:spcPts val="1350"/>
              </a:lnSpc>
              <a:buNone/>
            </a:pPr>
            <a:r>
              <a:rPr lang="en-US" sz="1350" dirty="0">
                <a:solidFill>
                  <a:srgbClr val="797979"/>
                </a:solidFill>
                <a:latin typeface="Noto Sans" pitchFamily="34" charset="0"/>
                <a:ea typeface="Noto Sans" pitchFamily="34" charset="-122"/>
                <a:cs typeface="Noto Sans" pitchFamily="34" charset="-120"/>
              </a:rPr>
              <a:t>(2)</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14375" y="400050"/>
            <a:ext cx="16573500" cy="619125"/>
          </a:xfrm>
          <a:prstGeom prst="rect">
            <a:avLst/>
          </a:prstGeom>
          <a:noFill/>
          <a:ln/>
        </p:spPr>
        <p:txBody>
          <a:bodyPr vert="horz" wrap="none" lIns="0" tIns="0" rIns="0" bIns="0" rtlCol="0" anchor="ctr"/>
          <a:lstStyle/>
          <a:p>
            <a:pPr marL="0" indent="0">
              <a:lnSpc>
                <a:spcPts val="4875"/>
              </a:lnSpc>
              <a:buNone/>
            </a:pPr>
            <a:r>
              <a:rPr lang="en-US" sz="3750" b="1" dirty="0">
                <a:solidFill>
                  <a:srgbClr val="233142"/>
                </a:solidFill>
                <a:latin typeface="Hubot Sans" pitchFamily="34" charset="0"/>
                <a:ea typeface="Hubot Sans" pitchFamily="34" charset="-122"/>
                <a:cs typeface="Hubot Sans" pitchFamily="34" charset="-120"/>
              </a:rPr>
              <a:t>Research Methodology and Data</a:t>
            </a:r>
            <a:endParaRPr lang="en-US" sz="3750" dirty="0"/>
          </a:p>
        </p:txBody>
      </p:sp>
      <p:sp>
        <p:nvSpPr>
          <p:cNvPr id="4" name="Text 1"/>
          <p:cNvSpPr/>
          <p:nvPr/>
        </p:nvSpPr>
        <p:spPr>
          <a:xfrm>
            <a:off x="714375" y="1495425"/>
            <a:ext cx="6949440" cy="396180"/>
          </a:xfrm>
          <a:prstGeom prst="rect">
            <a:avLst/>
          </a:prstGeom>
          <a:noFill/>
          <a:ln/>
        </p:spPr>
        <p:txBody>
          <a:bodyPr vert="horz" wrap="none" lIns="0" tIns="0" rIns="0" bIns="0" rtlCol="0" anchor="ctr"/>
          <a:lstStyle/>
          <a:p>
            <a:pPr marL="0" indent="0">
              <a:lnSpc>
                <a:spcPts val="3120"/>
              </a:lnSpc>
              <a:buNone/>
            </a:pPr>
            <a:r>
              <a:rPr lang="en-US" sz="2400" b="1" dirty="0">
                <a:solidFill>
                  <a:srgbClr val="233142"/>
                </a:solidFill>
                <a:latin typeface="Hubot Sans" pitchFamily="34" charset="0"/>
                <a:ea typeface="Hubot Sans" pitchFamily="34" charset="-122"/>
                <a:cs typeface="Hubot Sans" pitchFamily="34" charset="-120"/>
              </a:rPr>
              <a:t>Study Design &amp; Data</a:t>
            </a:r>
            <a:endParaRPr lang="en-US" sz="2400" dirty="0"/>
          </a:p>
        </p:txBody>
      </p:sp>
      <p:sp>
        <p:nvSpPr>
          <p:cNvPr id="5" name="Text 2"/>
          <p:cNvSpPr/>
          <p:nvPr/>
        </p:nvSpPr>
        <p:spPr>
          <a:xfrm>
            <a:off x="6448425" y="1495425"/>
            <a:ext cx="6732270" cy="383828"/>
          </a:xfrm>
          <a:prstGeom prst="rect">
            <a:avLst/>
          </a:prstGeom>
          <a:noFill/>
          <a:ln/>
        </p:spPr>
        <p:txBody>
          <a:bodyPr vert="horz" wrap="none" lIns="0" tIns="0" rIns="0" bIns="0" rtlCol="0" anchor="ctr"/>
          <a:lstStyle/>
          <a:p>
            <a:pPr marL="0" indent="0">
              <a:lnSpc>
                <a:spcPts val="3023"/>
              </a:lnSpc>
              <a:buNone/>
            </a:pPr>
            <a:r>
              <a:rPr lang="en-US" sz="2325" b="1" dirty="0">
                <a:solidFill>
                  <a:srgbClr val="233142"/>
                </a:solidFill>
                <a:latin typeface="Hubot Sans" pitchFamily="34" charset="0"/>
                <a:ea typeface="Hubot Sans" pitchFamily="34" charset="-122"/>
                <a:cs typeface="Hubot Sans" pitchFamily="34" charset="-120"/>
              </a:rPr>
              <a:t>Analytical Approach</a:t>
            </a:r>
            <a:endParaRPr lang="en-US" sz="2325" dirty="0"/>
          </a:p>
        </p:txBody>
      </p:sp>
      <p:sp>
        <p:nvSpPr>
          <p:cNvPr id="7" name="Text 4"/>
          <p:cNvSpPr/>
          <p:nvPr/>
        </p:nvSpPr>
        <p:spPr>
          <a:xfrm>
            <a:off x="714375" y="2038350"/>
            <a:ext cx="5594896" cy="2224385"/>
          </a:xfrm>
          <a:prstGeom prst="rect">
            <a:avLst/>
          </a:prstGeom>
          <a:noFill/>
          <a:ln/>
        </p:spPr>
        <p:txBody>
          <a:bodyPr vert="horz" wrap="none" lIns="0" tIns="0" rIns="0" bIns="0" rtlCol="0" anchor="ctr"/>
          <a:lstStyle/>
          <a:p>
            <a:pPr marL="0" indent="0">
              <a:lnSpc>
                <a:spcPts val="2919"/>
              </a:lnSpc>
              <a:buNone/>
            </a:pPr>
            <a:r>
              <a:rPr lang="en-US" sz="2100" dirty="0">
                <a:solidFill>
                  <a:srgbClr val="233142"/>
                </a:solidFill>
                <a:latin typeface="Noto Sans" pitchFamily="34" charset="0"/>
                <a:ea typeface="Noto Sans" pitchFamily="34" charset="-122"/>
                <a:cs typeface="Noto Sans" pitchFamily="34" charset="-120"/>
              </a:rPr>
              <a:t>• Factorial survey experiment 
• Participants rated vaccination
willingness on a 0–1 scale for each
policy scenario</a:t>
            </a:r>
            <a:endParaRPr lang="en-US" sz="2100" dirty="0"/>
          </a:p>
        </p:txBody>
      </p:sp>
      <p:sp>
        <p:nvSpPr>
          <p:cNvPr id="8" name="Text 5"/>
          <p:cNvSpPr/>
          <p:nvPr/>
        </p:nvSpPr>
        <p:spPr>
          <a:xfrm>
            <a:off x="6448425" y="2038350"/>
            <a:ext cx="5668268" cy="4078039"/>
          </a:xfrm>
          <a:prstGeom prst="rect">
            <a:avLst/>
          </a:prstGeom>
          <a:noFill/>
          <a:ln/>
        </p:spPr>
        <p:txBody>
          <a:bodyPr vert="horz" wrap="none" lIns="0" tIns="0" rIns="0" bIns="0" rtlCol="0" anchor="ctr"/>
          <a:lstStyle/>
          <a:p>
            <a:pPr marL="0" indent="0">
              <a:lnSpc>
                <a:spcPts val="2919"/>
              </a:lnSpc>
              <a:buNone/>
            </a:pPr>
            <a:r>
              <a:rPr lang="en-US" sz="2100" dirty="0">
                <a:solidFill>
                  <a:srgbClr val="233142"/>
                </a:solidFill>
                <a:latin typeface="Noto Sans" pitchFamily="34" charset="0"/>
                <a:ea typeface="Noto Sans" pitchFamily="34" charset="-122"/>
                <a:cs typeface="Noto Sans" pitchFamily="34" charset="-120"/>
              </a:rPr>
              <a:t>• Linear regression models with
individual fixed effects
• Controlled for unobserved
participant characteristics
• Causal forests (machine learning)
used to examine treatment effect
heterogeneity
• Heterogeneity analysis across age,
trust, and risk preferences
• Three R scripts: data preparation,
main results, heterogeneous effects</a:t>
            </a:r>
            <a:endParaRPr lang="en-US" sz="2100" dirty="0"/>
          </a:p>
        </p:txBody>
      </p:sp>
      <p:sp>
        <p:nvSpPr>
          <p:cNvPr id="9" name="Text 6"/>
          <p:cNvSpPr/>
          <p:nvPr/>
        </p:nvSpPr>
        <p:spPr>
          <a:xfrm>
            <a:off x="11220331" y="6524625"/>
            <a:ext cx="754380" cy="171450"/>
          </a:xfrm>
          <a:prstGeom prst="rect">
            <a:avLst/>
          </a:prstGeom>
          <a:noFill/>
          <a:ln/>
        </p:spPr>
        <p:txBody>
          <a:bodyPr vert="horz" wrap="none" lIns="0" tIns="0" rIns="0" bIns="0" rtlCol="0" anchor="ctr"/>
          <a:lstStyle/>
          <a:p>
            <a:pPr marL="0" indent="0" algn="r">
              <a:lnSpc>
                <a:spcPts val="1350"/>
              </a:lnSpc>
              <a:buNone/>
            </a:pPr>
            <a:r>
              <a:rPr lang="en-US" sz="1350" dirty="0">
                <a:solidFill>
                  <a:srgbClr val="233142"/>
                </a:solidFill>
                <a:latin typeface="Noto Sans" pitchFamily="34" charset="0"/>
                <a:ea typeface="Noto Sans" pitchFamily="34" charset="-122"/>
                <a:cs typeface="Noto Sans" pitchFamily="34" charset="-120"/>
              </a:rPr>
              <a:t>(3)</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3429C-AF1A-9C67-BD55-742079D86E8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BC401E2-6F04-6140-8FC6-6FA4388002E9}"/>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 0">
            <a:extLst>
              <a:ext uri="{FF2B5EF4-FFF2-40B4-BE49-F238E27FC236}">
                <a16:creationId xmlns:a16="http://schemas.microsoft.com/office/drawing/2014/main" id="{CF8A12E2-C321-B949-5955-60AC443A6A90}"/>
              </a:ext>
            </a:extLst>
          </p:cNvPr>
          <p:cNvSpPr/>
          <p:nvPr/>
        </p:nvSpPr>
        <p:spPr>
          <a:xfrm>
            <a:off x="590550" y="400050"/>
            <a:ext cx="16047720" cy="609154"/>
          </a:xfrm>
          <a:prstGeom prst="rect">
            <a:avLst/>
          </a:prstGeom>
          <a:noFill/>
          <a:ln/>
        </p:spPr>
        <p:txBody>
          <a:bodyPr vert="horz" wrap="none" lIns="0" tIns="0" rIns="0" bIns="0" rtlCol="0" anchor="ctr"/>
          <a:lstStyle/>
          <a:p>
            <a:pPr>
              <a:lnSpc>
                <a:spcPts val="4797"/>
              </a:lnSpc>
            </a:pPr>
            <a:r>
              <a:rPr lang="en-US" sz="4000" b="1" dirty="0"/>
              <a:t>Effect of Incentives on Vaccination Willingness</a:t>
            </a:r>
            <a:endParaRPr lang="en-US" sz="3900" b="1" dirty="0"/>
          </a:p>
        </p:txBody>
      </p:sp>
      <p:sp>
        <p:nvSpPr>
          <p:cNvPr id="7" name="Text 3">
            <a:extLst>
              <a:ext uri="{FF2B5EF4-FFF2-40B4-BE49-F238E27FC236}">
                <a16:creationId xmlns:a16="http://schemas.microsoft.com/office/drawing/2014/main" id="{033DCDB6-69D5-C6F2-9A8A-FDEDFC49363C}"/>
              </a:ext>
            </a:extLst>
          </p:cNvPr>
          <p:cNvSpPr/>
          <p:nvPr/>
        </p:nvSpPr>
        <p:spPr>
          <a:xfrm>
            <a:off x="11630025" y="6515100"/>
            <a:ext cx="342900" cy="171450"/>
          </a:xfrm>
          <a:prstGeom prst="rect">
            <a:avLst/>
          </a:prstGeom>
          <a:noFill/>
          <a:ln/>
        </p:spPr>
        <p:txBody>
          <a:bodyPr vert="horz" wrap="none" lIns="0" tIns="0" rIns="0" bIns="0" rtlCol="0" anchor="ctr"/>
          <a:lstStyle/>
          <a:p>
            <a:pPr marL="0" indent="0" algn="r">
              <a:lnSpc>
                <a:spcPts val="1350"/>
              </a:lnSpc>
              <a:buNone/>
            </a:pPr>
            <a:r>
              <a:rPr lang="en-US" sz="1350" dirty="0">
                <a:solidFill>
                  <a:srgbClr val="535761"/>
                </a:solidFill>
                <a:latin typeface="Noto Sans KR" pitchFamily="34" charset="0"/>
                <a:ea typeface="Noto Sans KR" pitchFamily="34" charset="-122"/>
                <a:cs typeface="Noto Sans KR" pitchFamily="34" charset="-120"/>
              </a:rPr>
              <a:t>4</a:t>
            </a:r>
            <a:endParaRPr lang="en-US" sz="1350" dirty="0"/>
          </a:p>
        </p:txBody>
      </p:sp>
      <p:pic>
        <p:nvPicPr>
          <p:cNvPr id="8" name="Picture 7">
            <a:extLst>
              <a:ext uri="{FF2B5EF4-FFF2-40B4-BE49-F238E27FC236}">
                <a16:creationId xmlns:a16="http://schemas.microsoft.com/office/drawing/2014/main" id="{41BD976A-584C-D837-52EB-56B6B18836F9}"/>
              </a:ext>
            </a:extLst>
          </p:cNvPr>
          <p:cNvPicPr>
            <a:picLocks noChangeAspect="1"/>
          </p:cNvPicPr>
          <p:nvPr/>
        </p:nvPicPr>
        <p:blipFill>
          <a:blip r:embed="rId4"/>
          <a:stretch>
            <a:fillRect/>
          </a:stretch>
        </p:blipFill>
        <p:spPr>
          <a:xfrm>
            <a:off x="3438519" y="1647597"/>
            <a:ext cx="5486411" cy="4572009"/>
          </a:xfrm>
          <a:prstGeom prst="rect">
            <a:avLst/>
          </a:prstGeom>
        </p:spPr>
      </p:pic>
    </p:spTree>
    <p:extLst>
      <p:ext uri="{BB962C8B-B14F-4D97-AF65-F5344CB8AC3E}">
        <p14:creationId xmlns:p14="http://schemas.microsoft.com/office/powerpoint/2010/main" val="425431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4" name="Text 0"/>
          <p:cNvSpPr/>
          <p:nvPr/>
        </p:nvSpPr>
        <p:spPr>
          <a:xfrm>
            <a:off x="590550" y="400050"/>
            <a:ext cx="16047720" cy="609154"/>
          </a:xfrm>
          <a:prstGeom prst="rect">
            <a:avLst/>
          </a:prstGeom>
          <a:noFill/>
          <a:ln/>
        </p:spPr>
        <p:txBody>
          <a:bodyPr vert="horz" wrap="none" lIns="0" tIns="0" rIns="0" bIns="0" rtlCol="0" anchor="ctr"/>
          <a:lstStyle/>
          <a:p>
            <a:pPr marL="0" indent="0">
              <a:lnSpc>
                <a:spcPts val="4797"/>
              </a:lnSpc>
              <a:buNone/>
            </a:pPr>
            <a:r>
              <a:rPr lang="en-US" sz="3900" b="1" dirty="0">
                <a:solidFill>
                  <a:srgbClr val="192833"/>
                </a:solidFill>
                <a:latin typeface="Noto Sans KR" pitchFamily="34" charset="0"/>
                <a:ea typeface="Noto Sans KR" pitchFamily="34" charset="-122"/>
                <a:cs typeface="Noto Sans KR" pitchFamily="34" charset="-120"/>
              </a:rPr>
              <a:t>Impact of Policy Incentives</a:t>
            </a:r>
            <a:endParaRPr lang="en-US" sz="3900" dirty="0"/>
          </a:p>
        </p:txBody>
      </p:sp>
      <p:sp>
        <p:nvSpPr>
          <p:cNvPr id="5" name="Text 1"/>
          <p:cNvSpPr/>
          <p:nvPr/>
        </p:nvSpPr>
        <p:spPr>
          <a:xfrm>
            <a:off x="657225" y="1390650"/>
            <a:ext cx="24643080" cy="370731"/>
          </a:xfrm>
          <a:prstGeom prst="rect">
            <a:avLst/>
          </a:prstGeom>
          <a:noFill/>
          <a:ln/>
        </p:spPr>
        <p:txBody>
          <a:bodyPr vert="horz" wrap="none" lIns="0" tIns="0" rIns="0" bIns="0" rtlCol="0" anchor="ctr"/>
          <a:lstStyle/>
          <a:p>
            <a:pPr marL="0" indent="0">
              <a:lnSpc>
                <a:spcPts val="2919"/>
              </a:lnSpc>
              <a:buNone/>
            </a:pPr>
            <a:r>
              <a:rPr lang="en-US" sz="2100" b="1" dirty="0">
                <a:solidFill>
                  <a:srgbClr val="192833"/>
                </a:solidFill>
                <a:latin typeface="Noto Sans KR" pitchFamily="34" charset="0"/>
                <a:ea typeface="Noto Sans KR" pitchFamily="34" charset="-122"/>
                <a:cs typeface="Noto Sans KR" pitchFamily="34" charset="-120"/>
              </a:rPr>
              <a:t>All three incentive types showed positive effects on vaccination willingness.</a:t>
            </a:r>
            <a:endParaRPr lang="en-US" sz="2100" dirty="0"/>
          </a:p>
        </p:txBody>
      </p:sp>
      <p:sp>
        <p:nvSpPr>
          <p:cNvPr id="7" name="Text 3"/>
          <p:cNvSpPr/>
          <p:nvPr/>
        </p:nvSpPr>
        <p:spPr>
          <a:xfrm>
            <a:off x="11630025" y="6515100"/>
            <a:ext cx="342900" cy="171450"/>
          </a:xfrm>
          <a:prstGeom prst="rect">
            <a:avLst/>
          </a:prstGeom>
          <a:noFill/>
          <a:ln/>
        </p:spPr>
        <p:txBody>
          <a:bodyPr vert="horz" wrap="none" lIns="0" tIns="0" rIns="0" bIns="0" rtlCol="0" anchor="ctr"/>
          <a:lstStyle/>
          <a:p>
            <a:pPr marL="0" indent="0" algn="r">
              <a:lnSpc>
                <a:spcPts val="1350"/>
              </a:lnSpc>
              <a:buNone/>
            </a:pPr>
            <a:r>
              <a:rPr lang="en-US" sz="1350" dirty="0">
                <a:solidFill>
                  <a:srgbClr val="535761"/>
                </a:solidFill>
                <a:latin typeface="Noto Sans KR" pitchFamily="34" charset="0"/>
                <a:ea typeface="Noto Sans KR" pitchFamily="34" charset="-122"/>
                <a:cs typeface="Noto Sans KR" pitchFamily="34" charset="-120"/>
              </a:rPr>
              <a:t>4</a:t>
            </a:r>
            <a:endParaRPr lang="en-US" sz="1350" dirty="0"/>
          </a:p>
        </p:txBody>
      </p:sp>
      <p:pic>
        <p:nvPicPr>
          <p:cNvPr id="9" name="Picture 8">
            <a:extLst>
              <a:ext uri="{FF2B5EF4-FFF2-40B4-BE49-F238E27FC236}">
                <a16:creationId xmlns:a16="http://schemas.microsoft.com/office/drawing/2014/main" id="{BA7DAE05-EE5D-D908-F59D-448562A44209}"/>
              </a:ext>
            </a:extLst>
          </p:cNvPr>
          <p:cNvPicPr>
            <a:picLocks noChangeAspect="1"/>
          </p:cNvPicPr>
          <p:nvPr/>
        </p:nvPicPr>
        <p:blipFill>
          <a:blip r:embed="rId4"/>
          <a:stretch>
            <a:fillRect/>
          </a:stretch>
        </p:blipFill>
        <p:spPr>
          <a:xfrm>
            <a:off x="590549" y="2059462"/>
            <a:ext cx="11067833" cy="2912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24173" y="2578596"/>
            <a:ext cx="5291286" cy="2928342"/>
          </a:xfrm>
          <a:prstGeom prst="rect">
            <a:avLst/>
          </a:prstGeom>
        </p:spPr>
      </p:pic>
      <p:sp>
        <p:nvSpPr>
          <p:cNvPr id="4" name="Text 0"/>
          <p:cNvSpPr/>
          <p:nvPr/>
        </p:nvSpPr>
        <p:spPr>
          <a:xfrm>
            <a:off x="657225" y="428625"/>
            <a:ext cx="8329613" cy="963811"/>
          </a:xfrm>
          <a:prstGeom prst="rect">
            <a:avLst/>
          </a:prstGeom>
          <a:noFill/>
          <a:ln/>
        </p:spPr>
        <p:txBody>
          <a:bodyPr vert="horz" wrap="none" lIns="0" tIns="0" rIns="0" bIns="0" rtlCol="0" anchor="ctr"/>
          <a:lstStyle/>
          <a:p>
            <a:pPr marL="0" indent="0">
              <a:lnSpc>
                <a:spcPts val="3795"/>
              </a:lnSpc>
              <a:buNone/>
            </a:pPr>
            <a:r>
              <a:rPr lang="en-US" sz="3300" b="1" dirty="0">
                <a:solidFill>
                  <a:srgbClr val="1C2738"/>
                </a:solidFill>
                <a:latin typeface="Hubot Sans" pitchFamily="34" charset="0"/>
                <a:ea typeface="Hubot Sans" pitchFamily="34" charset="-122"/>
                <a:cs typeface="Hubot Sans" pitchFamily="34" charset="-120"/>
              </a:rPr>
              <a:t>Predicted Vaccination Coverage
</a:t>
            </a:r>
            <a:endParaRPr lang="en-US" sz="3300" dirty="0"/>
          </a:p>
        </p:txBody>
      </p:sp>
      <p:sp>
        <p:nvSpPr>
          <p:cNvPr id="5" name="Text 1"/>
          <p:cNvSpPr/>
          <p:nvPr/>
        </p:nvSpPr>
        <p:spPr>
          <a:xfrm>
            <a:off x="657225" y="2076450"/>
            <a:ext cx="9258300" cy="295721"/>
          </a:xfrm>
          <a:prstGeom prst="rect">
            <a:avLst/>
          </a:prstGeom>
          <a:noFill/>
          <a:ln/>
        </p:spPr>
        <p:txBody>
          <a:bodyPr vert="horz" wrap="none" lIns="0" tIns="0" rIns="0" bIns="0" rtlCol="0" anchor="ctr"/>
          <a:lstStyle/>
          <a:p>
            <a:pPr marL="0" indent="0">
              <a:lnSpc>
                <a:spcPts val="2329"/>
              </a:lnSpc>
              <a:buNone/>
            </a:pPr>
            <a:r>
              <a:rPr lang="en-US" sz="2025" b="1" dirty="0">
                <a:solidFill>
                  <a:srgbClr val="1A56DB"/>
                </a:solidFill>
                <a:latin typeface="Hubot Sans" pitchFamily="34" charset="0"/>
                <a:ea typeface="Hubot Sans" pitchFamily="34" charset="-122"/>
                <a:cs typeface="Hubot Sans" pitchFamily="34" charset="-120"/>
              </a:rPr>
              <a:t>Coverage by Incentive Scenario</a:t>
            </a:r>
            <a:endParaRPr lang="en-US" sz="2025" dirty="0"/>
          </a:p>
        </p:txBody>
      </p:sp>
      <p:pic>
        <p:nvPicPr>
          <p:cNvPr id="10" name="Picture 9">
            <a:extLst>
              <a:ext uri="{FF2B5EF4-FFF2-40B4-BE49-F238E27FC236}">
                <a16:creationId xmlns:a16="http://schemas.microsoft.com/office/drawing/2014/main" id="{4F8F5605-63ED-13DF-001D-BC1FE645D107}"/>
              </a:ext>
            </a:extLst>
          </p:cNvPr>
          <p:cNvPicPr>
            <a:picLocks noChangeAspect="1"/>
          </p:cNvPicPr>
          <p:nvPr/>
        </p:nvPicPr>
        <p:blipFill>
          <a:blip r:embed="rId5"/>
          <a:stretch>
            <a:fillRect/>
          </a:stretch>
        </p:blipFill>
        <p:spPr>
          <a:xfrm>
            <a:off x="6472684" y="1628187"/>
            <a:ext cx="5486411" cy="45720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DEB7-AC3F-BA17-A6AD-041219CCDE9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0CE14C9-B0E5-B404-25EF-0AE00E52F483}"/>
              </a:ext>
            </a:extLst>
          </p:cNvPr>
          <p:cNvPicPr>
            <a:picLocks noChangeAspect="1"/>
          </p:cNvPicPr>
          <p:nvPr/>
        </p:nvPicPr>
        <p:blipFill>
          <a:blip r:embed="rId3"/>
          <a:stretch>
            <a:fillRect/>
          </a:stretch>
        </p:blipFill>
        <p:spPr>
          <a:xfrm>
            <a:off x="-94425" y="-699796"/>
            <a:ext cx="12192000" cy="6858000"/>
          </a:xfrm>
          <a:prstGeom prst="rect">
            <a:avLst/>
          </a:prstGeom>
        </p:spPr>
      </p:pic>
      <p:sp>
        <p:nvSpPr>
          <p:cNvPr id="4" name="Text 0">
            <a:extLst>
              <a:ext uri="{FF2B5EF4-FFF2-40B4-BE49-F238E27FC236}">
                <a16:creationId xmlns:a16="http://schemas.microsoft.com/office/drawing/2014/main" id="{8D46B1FE-55FC-72A1-6AC8-57D09D742DA9}"/>
              </a:ext>
            </a:extLst>
          </p:cNvPr>
          <p:cNvSpPr/>
          <p:nvPr/>
        </p:nvSpPr>
        <p:spPr>
          <a:xfrm>
            <a:off x="476250" y="217890"/>
            <a:ext cx="8329613" cy="963811"/>
          </a:xfrm>
          <a:prstGeom prst="rect">
            <a:avLst/>
          </a:prstGeom>
          <a:noFill/>
          <a:ln/>
        </p:spPr>
        <p:txBody>
          <a:bodyPr vert="horz" wrap="none" lIns="0" tIns="0" rIns="0" bIns="0" rtlCol="0" anchor="ctr"/>
          <a:lstStyle/>
          <a:p>
            <a:pPr>
              <a:lnSpc>
                <a:spcPts val="3795"/>
              </a:lnSpc>
            </a:pPr>
            <a:r>
              <a:rPr lang="en-US" sz="3600" b="1" dirty="0"/>
              <a:t>Heterogeneous Effects of Incentives</a:t>
            </a:r>
            <a:r>
              <a:rPr lang="en-US" sz="3300" b="1" dirty="0">
                <a:solidFill>
                  <a:srgbClr val="1C2738"/>
                </a:solidFill>
                <a:latin typeface="Hubot Sans" pitchFamily="34" charset="0"/>
                <a:ea typeface="Hubot Sans" pitchFamily="34" charset="-122"/>
                <a:cs typeface="Hubot Sans" pitchFamily="34" charset="-120"/>
              </a:rPr>
              <a:t>
</a:t>
            </a:r>
            <a:endParaRPr lang="en-US" sz="3300" b="1" dirty="0"/>
          </a:p>
        </p:txBody>
      </p:sp>
      <p:sp>
        <p:nvSpPr>
          <p:cNvPr id="6" name="Text 2">
            <a:extLst>
              <a:ext uri="{FF2B5EF4-FFF2-40B4-BE49-F238E27FC236}">
                <a16:creationId xmlns:a16="http://schemas.microsoft.com/office/drawing/2014/main" id="{C6E7C72F-DC4F-96A6-254C-3A787FBFB560}"/>
              </a:ext>
            </a:extLst>
          </p:cNvPr>
          <p:cNvSpPr/>
          <p:nvPr/>
        </p:nvSpPr>
        <p:spPr>
          <a:xfrm>
            <a:off x="6271766" y="1675900"/>
            <a:ext cx="7098030" cy="295721"/>
          </a:xfrm>
          <a:prstGeom prst="rect">
            <a:avLst/>
          </a:prstGeom>
          <a:noFill/>
          <a:ln/>
        </p:spPr>
        <p:txBody>
          <a:bodyPr vert="horz" wrap="none" lIns="0" tIns="0" rIns="0" bIns="0" rtlCol="0" anchor="ctr"/>
          <a:lstStyle/>
          <a:p>
            <a:pPr>
              <a:lnSpc>
                <a:spcPts val="2329"/>
              </a:lnSpc>
            </a:pPr>
            <a:r>
              <a:rPr lang="en-US" sz="2000" b="1" dirty="0">
                <a:solidFill>
                  <a:srgbClr val="0070C0"/>
                </a:solidFill>
              </a:rPr>
              <a:t>Heterogeneous Effects for Unwilling Respondents</a:t>
            </a:r>
          </a:p>
        </p:txBody>
      </p:sp>
      <p:pic>
        <p:nvPicPr>
          <p:cNvPr id="9" name="Picture 8">
            <a:extLst>
              <a:ext uri="{FF2B5EF4-FFF2-40B4-BE49-F238E27FC236}">
                <a16:creationId xmlns:a16="http://schemas.microsoft.com/office/drawing/2014/main" id="{961120F6-63A1-C011-1050-6ECA841CC42C}"/>
              </a:ext>
            </a:extLst>
          </p:cNvPr>
          <p:cNvPicPr>
            <a:picLocks noChangeAspect="1"/>
          </p:cNvPicPr>
          <p:nvPr/>
        </p:nvPicPr>
        <p:blipFill>
          <a:blip r:embed="rId4"/>
          <a:stretch>
            <a:fillRect/>
          </a:stretch>
        </p:blipFill>
        <p:spPr>
          <a:xfrm>
            <a:off x="977402" y="1488816"/>
            <a:ext cx="4669388" cy="4669388"/>
          </a:xfrm>
          <a:prstGeom prst="rect">
            <a:avLst/>
          </a:prstGeom>
        </p:spPr>
      </p:pic>
      <p:sp>
        <p:nvSpPr>
          <p:cNvPr id="12" name="Rectangle 2">
            <a:extLst>
              <a:ext uri="{FF2B5EF4-FFF2-40B4-BE49-F238E27FC236}">
                <a16:creationId xmlns:a16="http://schemas.microsoft.com/office/drawing/2014/main" id="{03C3EE89-4284-64B8-2085-79F5372EA5A2}"/>
              </a:ext>
            </a:extLst>
          </p:cNvPr>
          <p:cNvSpPr>
            <a:spLocks noChangeArrowheads="1"/>
          </p:cNvSpPr>
          <p:nvPr/>
        </p:nvSpPr>
        <p:spPr bwMode="auto">
          <a:xfrm>
            <a:off x="6181725" y="2255086"/>
            <a:ext cx="59158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Forest plot:</a:t>
            </a:r>
            <a:r>
              <a:rPr kumimoji="0" lang="en-US" altLang="en-US" sz="1200" b="0" i="0" u="none" strike="noStrike" cap="none" normalizeH="0" baseline="0" dirty="0">
                <a:ln>
                  <a:noFill/>
                </a:ln>
                <a:solidFill>
                  <a:schemeClr val="tx1"/>
                </a:solidFill>
                <a:effectLst/>
                <a:latin typeface="Arial" panose="020B0604020202020204" pitchFamily="34" charset="0"/>
              </a:rPr>
              <a:t> Dots = effect estimates, lines = 95% CI (uncertainty)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Unwilling/undecided people:</a:t>
            </a:r>
            <a:r>
              <a:rPr kumimoji="0" lang="en-US" altLang="en-US" sz="1200" b="0" i="0" u="none" strike="noStrike" cap="none" normalizeH="0" baseline="0" dirty="0">
                <a:ln>
                  <a:noFill/>
                </a:ln>
                <a:solidFill>
                  <a:schemeClr val="tx1"/>
                </a:solidFill>
                <a:effectLst/>
                <a:latin typeface="Arial" panose="020B0604020202020204" pitchFamily="34" charset="0"/>
              </a:rPr>
              <a:t> Response to incentives varies by subgroup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Key drivers: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Age:</a:t>
            </a:r>
            <a:r>
              <a:rPr kumimoji="0" lang="en-US" altLang="en-US" sz="1200" b="0" i="0" u="none" strike="noStrike" cap="none" normalizeH="0" baseline="0" dirty="0">
                <a:ln>
                  <a:noFill/>
                </a:ln>
                <a:solidFill>
                  <a:schemeClr val="tx1"/>
                </a:solidFill>
                <a:effectLst/>
                <a:latin typeface="Arial" panose="020B0604020202020204" pitchFamily="34" charset="0"/>
              </a:rPr>
              <a:t> Younger → enhanced freedoms; Older → local doctor vaccination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Distance:</a:t>
            </a:r>
            <a:r>
              <a:rPr kumimoji="0" lang="en-US" altLang="en-US" sz="1200" b="0" i="0" u="none" strike="noStrike" cap="none" normalizeH="0" baseline="0" dirty="0">
                <a:ln>
                  <a:noFill/>
                </a:ln>
                <a:solidFill>
                  <a:schemeClr val="tx1"/>
                </a:solidFill>
                <a:effectLst/>
                <a:latin typeface="Arial" panose="020B0604020202020204" pitchFamily="34" charset="0"/>
              </a:rPr>
              <a:t> Farther from vaccination centers → stronger effect of local doctor access</a:t>
            </a:r>
          </a:p>
        </p:txBody>
      </p:sp>
    </p:spTree>
    <p:extLst>
      <p:ext uri="{BB962C8B-B14F-4D97-AF65-F5344CB8AC3E}">
        <p14:creationId xmlns:p14="http://schemas.microsoft.com/office/powerpoint/2010/main" val="3048710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0DBA-9305-C5E6-FE4F-7929AF3517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971369D-D613-307C-A111-4BB105925270}"/>
              </a:ext>
            </a:extLst>
          </p:cNvPr>
          <p:cNvPicPr>
            <a:picLocks noChangeAspect="1"/>
          </p:cNvPicPr>
          <p:nvPr/>
        </p:nvPicPr>
        <p:blipFill>
          <a:blip r:embed="rId3"/>
          <a:stretch>
            <a:fillRect/>
          </a:stretch>
        </p:blipFill>
        <p:spPr>
          <a:xfrm>
            <a:off x="-94425" y="-699796"/>
            <a:ext cx="12192000" cy="6858000"/>
          </a:xfrm>
          <a:prstGeom prst="rect">
            <a:avLst/>
          </a:prstGeom>
        </p:spPr>
      </p:pic>
      <p:sp>
        <p:nvSpPr>
          <p:cNvPr id="4" name="Text 0">
            <a:extLst>
              <a:ext uri="{FF2B5EF4-FFF2-40B4-BE49-F238E27FC236}">
                <a16:creationId xmlns:a16="http://schemas.microsoft.com/office/drawing/2014/main" id="{44071FBF-9DE1-4185-7103-73D95DC18601}"/>
              </a:ext>
            </a:extLst>
          </p:cNvPr>
          <p:cNvSpPr/>
          <p:nvPr/>
        </p:nvSpPr>
        <p:spPr>
          <a:xfrm>
            <a:off x="476250" y="217890"/>
            <a:ext cx="8329613" cy="963811"/>
          </a:xfrm>
          <a:prstGeom prst="rect">
            <a:avLst/>
          </a:prstGeom>
          <a:noFill/>
          <a:ln/>
        </p:spPr>
        <p:txBody>
          <a:bodyPr vert="horz" wrap="none" lIns="0" tIns="0" rIns="0" bIns="0" rtlCol="0" anchor="ctr"/>
          <a:lstStyle/>
          <a:p>
            <a:pPr>
              <a:lnSpc>
                <a:spcPts val="3795"/>
              </a:lnSpc>
            </a:pPr>
            <a:r>
              <a:rPr lang="en-US" sz="3600" b="1" dirty="0">
                <a:solidFill>
                  <a:srgbClr val="1C2738"/>
                </a:solidFill>
                <a:latin typeface="Hubot Sans" pitchFamily="34" charset="0"/>
                <a:ea typeface="Hubot Sans" pitchFamily="34" charset="-122"/>
                <a:cs typeface="Hubot Sans" pitchFamily="34" charset="-120"/>
              </a:rPr>
              <a:t>Modifications to Original Study </a:t>
            </a:r>
            <a:r>
              <a:rPr lang="en-US" sz="3300" b="1" dirty="0">
                <a:solidFill>
                  <a:srgbClr val="1C2738"/>
                </a:solidFill>
                <a:latin typeface="Hubot Sans" pitchFamily="34" charset="0"/>
                <a:ea typeface="Hubot Sans" pitchFamily="34" charset="-122"/>
                <a:cs typeface="Hubot Sans" pitchFamily="34" charset="-120"/>
              </a:rPr>
              <a:t>
</a:t>
            </a:r>
            <a:endParaRPr lang="en-US" sz="3300" b="1" dirty="0"/>
          </a:p>
        </p:txBody>
      </p:sp>
      <p:sp>
        <p:nvSpPr>
          <p:cNvPr id="5" name="Rectangle 1">
            <a:extLst>
              <a:ext uri="{FF2B5EF4-FFF2-40B4-BE49-F238E27FC236}">
                <a16:creationId xmlns:a16="http://schemas.microsoft.com/office/drawing/2014/main" id="{F89150F7-2224-C77D-83B3-96F400663074}"/>
              </a:ext>
            </a:extLst>
          </p:cNvPr>
          <p:cNvSpPr>
            <a:spLocks noChangeArrowheads="1"/>
          </p:cNvSpPr>
          <p:nvPr/>
        </p:nvSpPr>
        <p:spPr bwMode="auto">
          <a:xfrm>
            <a:off x="373225" y="1372755"/>
            <a:ext cx="1161721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Baseline willingness as a continuous measure: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Captures the full range of prior attitudes, not just broad categories (willing, undecided, refusing).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Allows us to see how responsiveness to incentives varies across individuals.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Trust in government as a key moderator: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Numerous studies have shown that institutional trust strongly predicts vaccine uptake (e.g., Betsch et al., 2015; Lazarus et al., 2021).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People with low trust in government are less likely to follow vaccination recommendations, even when offered incentives.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For hesitant individuals, higher trust increases the likelihood they will accept vaccination, making it more effective than financial incentives alone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Public health importance: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Vaccine hesitancy is a growing global challenge. Understanding who is most responsive to policies helps target interventions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Trust in institutions is critical for long-term compliance with vaccination programs and broader public health measures.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6546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38FAC-F913-8671-534A-706416C8BD2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5B0D095-3234-8D0B-FEF8-941EE7D5C20B}"/>
              </a:ext>
            </a:extLst>
          </p:cNvPr>
          <p:cNvPicPr>
            <a:picLocks noChangeAspect="1"/>
          </p:cNvPicPr>
          <p:nvPr/>
        </p:nvPicPr>
        <p:blipFill>
          <a:blip r:embed="rId3"/>
          <a:stretch>
            <a:fillRect/>
          </a:stretch>
        </p:blipFill>
        <p:spPr>
          <a:xfrm>
            <a:off x="-94425" y="-802433"/>
            <a:ext cx="12192000" cy="6858000"/>
          </a:xfrm>
          <a:prstGeom prst="rect">
            <a:avLst/>
          </a:prstGeom>
        </p:spPr>
      </p:pic>
      <p:sp>
        <p:nvSpPr>
          <p:cNvPr id="4" name="Text 0">
            <a:extLst>
              <a:ext uri="{FF2B5EF4-FFF2-40B4-BE49-F238E27FC236}">
                <a16:creationId xmlns:a16="http://schemas.microsoft.com/office/drawing/2014/main" id="{F8A7DF76-F825-4B7C-7BE1-4056B78276BF}"/>
              </a:ext>
            </a:extLst>
          </p:cNvPr>
          <p:cNvSpPr/>
          <p:nvPr/>
        </p:nvSpPr>
        <p:spPr>
          <a:xfrm>
            <a:off x="476250" y="408944"/>
            <a:ext cx="8329613" cy="963811"/>
          </a:xfrm>
          <a:prstGeom prst="rect">
            <a:avLst/>
          </a:prstGeom>
          <a:noFill/>
          <a:ln/>
        </p:spPr>
        <p:txBody>
          <a:bodyPr vert="horz" wrap="none" lIns="0" tIns="0" rIns="0" bIns="0" rtlCol="0" anchor="ctr"/>
          <a:lstStyle/>
          <a:p>
            <a:pPr>
              <a:lnSpc>
                <a:spcPts val="3795"/>
              </a:lnSpc>
            </a:pPr>
            <a:r>
              <a:rPr lang="en-US" sz="3600" b="1" dirty="0">
                <a:solidFill>
                  <a:srgbClr val="232F3E"/>
                </a:solidFill>
                <a:latin typeface="Hubot Sans"/>
                <a:ea typeface="Hubot Sans"/>
                <a:cs typeface="Noto Sans S Chinese Bold Bold 6" pitchFamily="34" charset="-120"/>
              </a:rPr>
              <a:t>Modification: The Role of Trust in Government</a:t>
            </a:r>
            <a:endParaRPr lang="en-US" sz="3600" dirty="0">
              <a:latin typeface="Hubot Sans"/>
              <a:ea typeface="Hubot Sans"/>
            </a:endParaRPr>
          </a:p>
          <a:p>
            <a:pPr>
              <a:lnSpc>
                <a:spcPts val="3795"/>
              </a:lnSpc>
            </a:pPr>
            <a:r>
              <a:rPr lang="en-US" sz="3300" b="1" dirty="0">
                <a:solidFill>
                  <a:srgbClr val="1C2738"/>
                </a:solidFill>
                <a:latin typeface="Hubot Sans" pitchFamily="34" charset="0"/>
                <a:ea typeface="Hubot Sans" pitchFamily="34" charset="-122"/>
                <a:cs typeface="Hubot Sans" pitchFamily="34" charset="-120"/>
              </a:rPr>
              <a:t>
</a:t>
            </a:r>
            <a:endParaRPr lang="en-US" sz="3300" b="1" dirty="0"/>
          </a:p>
        </p:txBody>
      </p:sp>
      <p:sp>
        <p:nvSpPr>
          <p:cNvPr id="5" name="Rectangle 1">
            <a:extLst>
              <a:ext uri="{FF2B5EF4-FFF2-40B4-BE49-F238E27FC236}">
                <a16:creationId xmlns:a16="http://schemas.microsoft.com/office/drawing/2014/main" id="{77F3737B-4CB0-F13B-3624-FA9D32525C59}"/>
              </a:ext>
            </a:extLst>
          </p:cNvPr>
          <p:cNvSpPr>
            <a:spLocks noChangeArrowheads="1"/>
          </p:cNvSpPr>
          <p:nvPr/>
        </p:nvSpPr>
        <p:spPr bwMode="auto">
          <a:xfrm>
            <a:off x="373225" y="1485607"/>
            <a:ext cx="8454430" cy="294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nSpc>
                <a:spcPts val="2340"/>
              </a:lnSpc>
            </a:pPr>
            <a:r>
              <a:rPr lang="en-US" sz="1950" dirty="0">
                <a:solidFill>
                  <a:srgbClr val="232F3E"/>
                </a:solidFill>
                <a:latin typeface="Noto Sans S Chinese Regular Regular 6" pitchFamily="34" charset="0"/>
                <a:ea typeface="Noto Sans S Chinese Regular Regular 6" pitchFamily="34" charset="-122"/>
                <a:cs typeface="Noto Sans S Chinese Regular Regular 6" pitchFamily="34" charset="-120"/>
              </a:rPr>
              <a:t>Estimated two interaction regression models predicting vaccine hesitancy </a:t>
            </a:r>
          </a:p>
          <a:p>
            <a:pPr>
              <a:lnSpc>
                <a:spcPts val="2340"/>
              </a:lnSpc>
            </a:pPr>
            <a:r>
              <a:rPr lang="en-US" sz="1950" dirty="0">
                <a:solidFill>
                  <a:srgbClr val="232F3E"/>
                </a:solidFill>
                <a:latin typeface="Noto Sans S Chinese Regular Regular 6" pitchFamily="34" charset="0"/>
                <a:ea typeface="Noto Sans S Chinese Regular Regular 6" pitchFamily="34" charset="-122"/>
                <a:cs typeface="Noto Sans S Chinese Regular Regular 6" pitchFamily="34" charset="-120"/>
              </a:rPr>
              <a:t>	Model 1: Baseline attitudes X trust in government </a:t>
            </a:r>
          </a:p>
          <a:p>
            <a:pPr>
              <a:lnSpc>
                <a:spcPts val="2340"/>
              </a:lnSpc>
            </a:pPr>
            <a:r>
              <a:rPr lang="en-US" sz="1950" dirty="0">
                <a:solidFill>
                  <a:srgbClr val="232F3E"/>
                </a:solidFill>
                <a:latin typeface="Noto Sans S Chinese Regular Regular 6" pitchFamily="34" charset="0"/>
                <a:ea typeface="Noto Sans S Chinese Regular Regular 6" pitchFamily="34" charset="-122"/>
                <a:cs typeface="Noto Sans S Chinese Regular Regular 6" pitchFamily="34" charset="-120"/>
              </a:rPr>
              <a:t>	Model 2: Baseline attitudes X financial incentives</a:t>
            </a:r>
          </a:p>
          <a:p>
            <a:pPr>
              <a:lnSpc>
                <a:spcPts val="2340"/>
              </a:lnSpc>
            </a:pPr>
            <a:r>
              <a:rPr lang="en-US" sz="1950" dirty="0">
                <a:solidFill>
                  <a:srgbClr val="232F3E"/>
                </a:solidFill>
                <a:latin typeface="Noto Sans S Chinese Regular Regular 6" pitchFamily="34" charset="0"/>
                <a:ea typeface="Noto Sans S Chinese Regular Regular 6" pitchFamily="34" charset="-122"/>
                <a:cs typeface="Noto Sans S Chinese Regular Regular 6" pitchFamily="34" charset="-120"/>
              </a:rPr>
              <a:t>  All variables standardized (z scores) </a:t>
            </a:r>
          </a:p>
          <a:p>
            <a:pPr lvl="1">
              <a:lnSpc>
                <a:spcPts val="2340"/>
              </a:lnSpc>
            </a:pPr>
            <a:r>
              <a:rPr lang="en-US" sz="1950" dirty="0">
                <a:solidFill>
                  <a:srgbClr val="232F3E"/>
                </a:solidFill>
                <a:latin typeface="Noto Sans S Chinese Regular Regular 6" pitchFamily="34" charset="0"/>
                <a:ea typeface="Noto Sans S Chinese Regular Regular 6" pitchFamily="34" charset="-122"/>
              </a:rPr>
              <a:t>	Mean=0 and Standard deviation=1</a:t>
            </a:r>
          </a:p>
          <a:p>
            <a:pPr lvl="1">
              <a:lnSpc>
                <a:spcPts val="2340"/>
              </a:lnSpc>
            </a:pPr>
            <a:r>
              <a:rPr lang="en-US" sz="1950" dirty="0">
                <a:solidFill>
                  <a:srgbClr val="232F3E"/>
                </a:solidFill>
                <a:latin typeface="Noto Sans S Chinese Regular Regular 6" pitchFamily="34" charset="0"/>
                <a:ea typeface="Noto Sans S Chinese Regular Regular 6" pitchFamily="34" charset="-122"/>
              </a:rPr>
              <a:t>	Coefficients interpreted as SD changes in vaccine hesitancy</a:t>
            </a:r>
          </a:p>
          <a:p>
            <a:pPr lvl="1">
              <a:lnSpc>
                <a:spcPts val="2340"/>
              </a:lnSpc>
            </a:pPr>
            <a:r>
              <a:rPr lang="en-US" sz="1950" dirty="0">
                <a:solidFill>
                  <a:srgbClr val="232F3E"/>
                </a:solidFill>
                <a:latin typeface="Noto Sans S Chinese Regular Regular 6" pitchFamily="34" charset="0"/>
                <a:ea typeface="Noto Sans S Chinese Regular Regular 6" pitchFamily="34" charset="-122"/>
              </a:rPr>
              <a:t>Assessed which predictor  better describes variations in vaccine hesitancy</a:t>
            </a:r>
          </a:p>
          <a:p>
            <a:pPr lvl="1">
              <a:lnSpc>
                <a:spcPts val="2340"/>
              </a:lnSpc>
            </a:pPr>
            <a:r>
              <a:rPr lang="en-US" sz="1950" dirty="0">
                <a:solidFill>
                  <a:srgbClr val="232F3E"/>
                </a:solidFill>
                <a:latin typeface="Noto Sans S Chinese Regular Regular 6" pitchFamily="34" charset="0"/>
                <a:ea typeface="Noto Sans S Chinese Regular Regular 6" pitchFamily="34" charset="-122"/>
              </a:rPr>
              <a:t>Used financial incentives to compare as a benchmark from the original study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028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24173" y="2084784"/>
            <a:ext cx="11106894" cy="3188940"/>
          </a:xfrm>
          <a:prstGeom prst="rect">
            <a:avLst/>
          </a:prstGeom>
        </p:spPr>
      </p:pic>
      <p:sp>
        <p:nvSpPr>
          <p:cNvPr id="4" name="Text 0"/>
          <p:cNvSpPr/>
          <p:nvPr/>
        </p:nvSpPr>
        <p:spPr>
          <a:xfrm>
            <a:off x="657225" y="400050"/>
            <a:ext cx="20116800" cy="502890"/>
          </a:xfrm>
          <a:prstGeom prst="rect">
            <a:avLst/>
          </a:prstGeom>
          <a:noFill/>
          <a:ln/>
        </p:spPr>
        <p:txBody>
          <a:bodyPr vert="horz" wrap="none" lIns="0" tIns="0" rIns="0" bIns="0" rtlCol="0" anchor="ctr"/>
          <a:lstStyle/>
          <a:p>
            <a:pPr marL="0" indent="0">
              <a:lnSpc>
                <a:spcPts val="3960"/>
              </a:lnSpc>
              <a:buNone/>
            </a:pPr>
            <a:r>
              <a:rPr lang="en-US" sz="3300" b="1" dirty="0">
                <a:solidFill>
                  <a:srgbClr val="253147"/>
                </a:solidFill>
                <a:latin typeface="Hubot Sans" pitchFamily="34" charset="0"/>
                <a:ea typeface="Hubot Sans" pitchFamily="34" charset="-122"/>
                <a:cs typeface="Hubot Sans" pitchFamily="34" charset="-120"/>
              </a:rPr>
              <a:t>Comparing Trust and Financial Incentives</a:t>
            </a:r>
            <a:endParaRPr lang="en-US" sz="3300" dirty="0"/>
          </a:p>
        </p:txBody>
      </p:sp>
      <p:sp>
        <p:nvSpPr>
          <p:cNvPr id="5" name="Text 1"/>
          <p:cNvSpPr/>
          <p:nvPr/>
        </p:nvSpPr>
        <p:spPr>
          <a:xfrm>
            <a:off x="657225" y="5610225"/>
            <a:ext cx="12604403" cy="639961"/>
          </a:xfrm>
          <a:prstGeom prst="rect">
            <a:avLst/>
          </a:prstGeom>
          <a:noFill/>
          <a:ln/>
        </p:spPr>
        <p:txBody>
          <a:bodyPr vert="horz" wrap="none" lIns="0" tIns="0" rIns="0" bIns="0" rtlCol="0" anchor="ctr"/>
          <a:lstStyle/>
          <a:p>
            <a:pPr marL="0" indent="0">
              <a:lnSpc>
                <a:spcPts val="2520"/>
              </a:lnSpc>
              <a:buNone/>
            </a:pPr>
            <a:r>
              <a:rPr lang="en-US" sz="2100" dirty="0">
                <a:solidFill>
                  <a:srgbClr val="253147"/>
                </a:solidFill>
                <a:latin typeface="Noto Serif KR" pitchFamily="34" charset="0"/>
                <a:ea typeface="Noto Serif KR" pitchFamily="34" charset="-122"/>
                <a:cs typeface="Noto Serif KR" pitchFamily="34" charset="-120"/>
              </a:rPr>
              <a:t>The trust effect (0.0187) is approximately 69% larger than the financial incentive effect
(0.0111), and the interaction is more statistically robust.</a:t>
            </a:r>
            <a:endParaRPr lang="en-US" sz="2100" dirty="0"/>
          </a:p>
        </p:txBody>
      </p:sp>
      <p:sp>
        <p:nvSpPr>
          <p:cNvPr id="6" name="Text 2"/>
          <p:cNvSpPr/>
          <p:nvPr/>
        </p:nvSpPr>
        <p:spPr>
          <a:xfrm>
            <a:off x="657225" y="1428750"/>
            <a:ext cx="24643080" cy="389334"/>
          </a:xfrm>
          <a:prstGeom prst="rect">
            <a:avLst/>
          </a:prstGeom>
          <a:noFill/>
          <a:ln/>
        </p:spPr>
        <p:txBody>
          <a:bodyPr vert="horz" wrap="none" lIns="0" tIns="0" rIns="0" bIns="0" rtlCol="0" anchor="ctr"/>
          <a:lstStyle/>
          <a:p>
            <a:pPr marL="0" indent="0">
              <a:lnSpc>
                <a:spcPts val="3066"/>
              </a:lnSpc>
              <a:buNone/>
            </a:pPr>
            <a:r>
              <a:rPr lang="en-US" sz="2100" dirty="0">
                <a:solidFill>
                  <a:srgbClr val="253147"/>
                </a:solidFill>
                <a:latin typeface="Hubot Sans" pitchFamily="34" charset="0"/>
                <a:ea typeface="Hubot Sans" pitchFamily="34" charset="-122"/>
                <a:cs typeface="Hubot Sans" pitchFamily="34" charset="-120"/>
              </a:rPr>
              <a:t>Trust in government demonstrates a stronger impact than financial incentives.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704850" y="400050"/>
            <a:ext cx="19602450" cy="560040"/>
          </a:xfrm>
          <a:prstGeom prst="rect">
            <a:avLst/>
          </a:prstGeom>
          <a:noFill/>
          <a:ln/>
        </p:spPr>
        <p:txBody>
          <a:bodyPr vert="horz" wrap="none" lIns="0" tIns="0" rIns="0" bIns="0" rtlCol="0" anchor="ctr"/>
          <a:lstStyle/>
          <a:p>
            <a:pPr marL="0" indent="0">
              <a:lnSpc>
                <a:spcPts val="4410"/>
              </a:lnSpc>
              <a:buNone/>
            </a:pPr>
            <a:r>
              <a:rPr lang="en-US" sz="3675" b="1" dirty="0">
                <a:solidFill>
                  <a:srgbClr val="25324A"/>
                </a:solidFill>
                <a:latin typeface="Hubot Sans" pitchFamily="34" charset="0"/>
                <a:ea typeface="Hubot Sans" pitchFamily="34" charset="-122"/>
                <a:cs typeface="Hubot Sans" pitchFamily="34" charset="-120"/>
              </a:rPr>
              <a:t>Policy Implications and Conclusions</a:t>
            </a:r>
            <a:endParaRPr lang="en-US" sz="3675" dirty="0"/>
          </a:p>
        </p:txBody>
      </p:sp>
      <p:sp>
        <p:nvSpPr>
          <p:cNvPr id="4" name="Text 1"/>
          <p:cNvSpPr/>
          <p:nvPr/>
        </p:nvSpPr>
        <p:spPr>
          <a:xfrm>
            <a:off x="1019175" y="1714500"/>
            <a:ext cx="11064180" cy="693539"/>
          </a:xfrm>
          <a:prstGeom prst="rect">
            <a:avLst/>
          </a:prstGeom>
          <a:noFill/>
          <a:ln/>
        </p:spPr>
        <p:txBody>
          <a:bodyPr vert="horz" wrap="none" lIns="0" tIns="0" rIns="0" bIns="0" rtlCol="0" anchor="ctr"/>
          <a:lstStyle/>
          <a:p>
            <a:pPr marL="0" indent="0">
              <a:lnSpc>
                <a:spcPts val="2730"/>
              </a:lnSpc>
              <a:buNone/>
            </a:pPr>
            <a:r>
              <a:rPr lang="en-US" sz="2100" b="1" dirty="0">
                <a:solidFill>
                  <a:srgbClr val="000000"/>
                </a:solidFill>
                <a:latin typeface="Noto Sans KR" pitchFamily="34" charset="0"/>
                <a:ea typeface="Noto Sans KR" pitchFamily="34" charset="-122"/>
                <a:cs typeface="Noto Sans KR" pitchFamily="34" charset="-120"/>
              </a:rPr>
              <a:t>Trust increases vaccination willingness by 0.0187 units (p &lt; 2e-16) vs.
0.0111 units for financial incentives (p &lt; 2e-16) — a 69% stronger effect.</a:t>
            </a:r>
            <a:endParaRPr lang="en-US" sz="2100" dirty="0"/>
          </a:p>
        </p:txBody>
      </p:sp>
      <p:sp>
        <p:nvSpPr>
          <p:cNvPr id="5" name="Text 2"/>
          <p:cNvSpPr/>
          <p:nvPr/>
        </p:nvSpPr>
        <p:spPr>
          <a:xfrm>
            <a:off x="714375" y="2867025"/>
            <a:ext cx="11933783" cy="1040309"/>
          </a:xfrm>
          <a:prstGeom prst="rect">
            <a:avLst/>
          </a:prstGeom>
          <a:noFill/>
          <a:ln/>
        </p:spPr>
        <p:txBody>
          <a:bodyPr vert="horz" wrap="none" lIns="0" tIns="0" rIns="0" bIns="0" rtlCol="0" anchor="ctr"/>
          <a:lstStyle/>
          <a:p>
            <a:pPr marL="0" indent="0">
              <a:lnSpc>
                <a:spcPts val="2730"/>
              </a:lnSpc>
              <a:buNone/>
            </a:pPr>
            <a:r>
              <a:rPr lang="en-US" sz="2100" b="1" dirty="0">
                <a:solidFill>
                  <a:srgbClr val="000000"/>
                </a:solidFill>
                <a:latin typeface="Noto Sans KR" pitchFamily="34" charset="0"/>
                <a:ea typeface="Noto Sans KR" pitchFamily="34" charset="-122"/>
                <a:cs typeface="Noto Sans KR" pitchFamily="34" charset="-120"/>
              </a:rPr>
              <a:t>1. Prioritize trust-building</a:t>
            </a:r>
            <a:endParaRPr lang="en-US" sz="2100" dirty="0"/>
          </a:p>
        </p:txBody>
      </p:sp>
      <p:sp>
        <p:nvSpPr>
          <p:cNvPr id="6" name="Text 3"/>
          <p:cNvSpPr/>
          <p:nvPr/>
        </p:nvSpPr>
        <p:spPr>
          <a:xfrm>
            <a:off x="714375" y="4000500"/>
            <a:ext cx="12195721" cy="1040309"/>
          </a:xfrm>
          <a:prstGeom prst="rect">
            <a:avLst/>
          </a:prstGeom>
          <a:noFill/>
          <a:ln/>
        </p:spPr>
        <p:txBody>
          <a:bodyPr vert="horz" wrap="none" lIns="0" tIns="0" rIns="0" bIns="0" rtlCol="0" anchor="ctr"/>
          <a:lstStyle/>
          <a:p>
            <a:pPr marL="0" indent="0">
              <a:lnSpc>
                <a:spcPts val="2730"/>
              </a:lnSpc>
              <a:buNone/>
            </a:pPr>
            <a:r>
              <a:rPr lang="en-US" sz="2100" b="1" dirty="0">
                <a:solidFill>
                  <a:srgbClr val="000000"/>
                </a:solidFill>
                <a:latin typeface="Noto Sans KR" pitchFamily="34" charset="0"/>
                <a:ea typeface="Noto Sans KR" pitchFamily="34" charset="-122"/>
                <a:cs typeface="Noto Sans KR" pitchFamily="34" charset="-120"/>
              </a:rPr>
              <a:t>2. Transparent communication</a:t>
            </a:r>
            <a:endParaRPr lang="en-US" sz="2100" dirty="0"/>
          </a:p>
        </p:txBody>
      </p:sp>
      <p:sp>
        <p:nvSpPr>
          <p:cNvPr id="7" name="Text 4"/>
          <p:cNvSpPr/>
          <p:nvPr/>
        </p:nvSpPr>
        <p:spPr>
          <a:xfrm>
            <a:off x="714375" y="5114925"/>
            <a:ext cx="11797605" cy="1040309"/>
          </a:xfrm>
          <a:prstGeom prst="rect">
            <a:avLst/>
          </a:prstGeom>
          <a:noFill/>
          <a:ln/>
        </p:spPr>
        <p:txBody>
          <a:bodyPr vert="horz" wrap="none" lIns="0" tIns="0" rIns="0" bIns="0" rtlCol="0" anchor="ctr"/>
          <a:lstStyle/>
          <a:p>
            <a:pPr marL="0" indent="0">
              <a:lnSpc>
                <a:spcPts val="2730"/>
              </a:lnSpc>
              <a:buNone/>
            </a:pPr>
            <a:r>
              <a:rPr lang="en-US" sz="2100" b="1" dirty="0">
                <a:solidFill>
                  <a:srgbClr val="000000"/>
                </a:solidFill>
                <a:latin typeface="Noto Sans KR" pitchFamily="34" charset="0"/>
                <a:ea typeface="Noto Sans KR" pitchFamily="34" charset="-122"/>
                <a:cs typeface="Noto Sans KR" pitchFamily="34" charset="-120"/>
              </a:rPr>
              <a:t>3. Strategic use of financial incentives</a:t>
            </a:r>
            <a:endParaRPr lang="en-US" sz="2100" dirty="0"/>
          </a:p>
        </p:txBody>
      </p:sp>
      <p:sp>
        <p:nvSpPr>
          <p:cNvPr id="8" name="Text 5"/>
          <p:cNvSpPr/>
          <p:nvPr/>
        </p:nvSpPr>
        <p:spPr>
          <a:xfrm>
            <a:off x="11595646" y="6543675"/>
            <a:ext cx="419100" cy="209550"/>
          </a:xfrm>
          <a:prstGeom prst="rect">
            <a:avLst/>
          </a:prstGeom>
          <a:noFill/>
          <a:ln/>
        </p:spPr>
        <p:txBody>
          <a:bodyPr vert="horz" wrap="none" lIns="0" tIns="0" rIns="0" bIns="0" rtlCol="0" anchor="ctr"/>
          <a:lstStyle/>
          <a:p>
            <a:pPr marL="0" indent="0" algn="r">
              <a:lnSpc>
                <a:spcPts val="1650"/>
              </a:lnSpc>
              <a:buNone/>
            </a:pPr>
            <a:r>
              <a:rPr lang="en-US" sz="1650" dirty="0">
                <a:solidFill>
                  <a:srgbClr val="9E9E9E"/>
                </a:solidFill>
                <a:latin typeface="Noto Sans KR" pitchFamily="34" charset="0"/>
                <a:ea typeface="Noto Sans KR" pitchFamily="34" charset="-122"/>
                <a:cs typeface="Noto Sans KR" pitchFamily="34" charset="-120"/>
              </a:rPr>
              <a:t>8</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2063</Words>
  <Application>Microsoft Office PowerPoint</Application>
  <PresentationFormat>Widescreen</PresentationFormat>
  <Paragraphs>91</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Hubot Sans</vt:lpstr>
      <vt:lpstr>Noto Sans</vt:lpstr>
      <vt:lpstr>Noto Sans KR</vt:lpstr>
      <vt:lpstr>Noto Sans S Chinese Regular Regular 6</vt:lpstr>
      <vt:lpstr>Noto Serif KR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Alan Alvarado</cp:lastModifiedBy>
  <cp:revision>3</cp:revision>
  <dcterms:created xsi:type="dcterms:W3CDTF">2026-03-19T18:20:26Z</dcterms:created>
  <dcterms:modified xsi:type="dcterms:W3CDTF">2026-04-01T10:33:09Z</dcterms:modified>
</cp:coreProperties>
</file>